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10" Type="http://schemas.openxmlformats.org/officeDocument/2006/relationships/slide" Target="slides/slide5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obj_s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obj_s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obj_s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obj_s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obj_s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obj_s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obj_s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obj_s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/>
          <p:nvPr/>
        </p:nvSpPr>
        <p:spPr>
          <a:xfrm>
            <a:off x="0" y="0"/>
            <a:ext cx="5460900" cy="5143500"/>
          </a:xfrm>
          <a:prstGeom prst="rect">
            <a:avLst/>
          </a:prstGeom>
          <a:solidFill>
            <a:srgbClr val="062B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/>
          <p:nvPr/>
        </p:nvSpPr>
        <p:spPr>
          <a:xfrm>
            <a:off x="685800" y="876300"/>
            <a:ext cx="812700" cy="762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685800" y="482600"/>
            <a:ext cx="41910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7DD3C7"/>
                </a:solidFill>
              </a:rPr>
              <a:t>FASE 1 · PROPUESTA DE PRODUCTO</a:t>
            </a:r>
            <a:endParaRPr b="1" sz="1100">
              <a:solidFill>
                <a:srgbClr val="7DD3C7"/>
              </a:solidFill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85800" y="1168400"/>
            <a:ext cx="4254600" cy="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400">
                <a:solidFill>
                  <a:srgbClr val="FFFFFF"/>
                </a:solidFill>
              </a:rPr>
              <a:t>AulaNexo</a:t>
            </a:r>
            <a:endParaRPr b="1" sz="3400">
              <a:solidFill>
                <a:srgbClr val="FFFFFF"/>
              </a:solidFill>
            </a:endParaRPr>
          </a:p>
        </p:txBody>
      </p:sp>
      <p:sp>
        <p:nvSpPr>
          <p:cNvPr id="58" name="Google Shape;58;p13"/>
          <p:cNvSpPr txBox="1"/>
          <p:nvPr/>
        </p:nvSpPr>
        <p:spPr>
          <a:xfrm>
            <a:off x="685800" y="1943100"/>
            <a:ext cx="4191000" cy="4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900">
                <a:solidFill>
                  <a:srgbClr val="FFFFFF"/>
                </a:solidFill>
              </a:rPr>
              <a:t>Aula y laboratorio inteligente</a:t>
            </a:r>
            <a:endParaRPr sz="1900">
              <a:solidFill>
                <a:srgbClr val="FFFFFF"/>
              </a:solidFill>
            </a:endParaRPr>
          </a:p>
        </p:txBody>
      </p:sp>
      <p:sp>
        <p:nvSpPr>
          <p:cNvPr id="59" name="Google Shape;59;p13"/>
          <p:cNvSpPr txBox="1"/>
          <p:nvPr/>
        </p:nvSpPr>
        <p:spPr>
          <a:xfrm>
            <a:off x="685800" y="2641600"/>
            <a:ext cx="40005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D8E7F2"/>
                </a:solidFill>
              </a:rPr>
              <a:t>Seguridad ambiental, confort, acceso e iluminación eficiente en un prototipo IoT ampliable.</a:t>
            </a:r>
            <a:endParaRPr sz="1600">
              <a:solidFill>
                <a:srgbClr val="D8E7F2"/>
              </a:solidFill>
            </a:endParaRPr>
          </a:p>
        </p:txBody>
      </p:sp>
      <p:sp>
        <p:nvSpPr>
          <p:cNvPr id="60" name="Google Shape;60;p13"/>
          <p:cNvSpPr txBox="1"/>
          <p:nvPr/>
        </p:nvSpPr>
        <p:spPr>
          <a:xfrm>
            <a:off x="685800" y="4343400"/>
            <a:ext cx="40641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9FC3D9"/>
                </a:solidFill>
              </a:rPr>
              <a:t>Proyecto renovado a partir de la arquitectura funcional existente</a:t>
            </a:r>
            <a:endParaRPr sz="1000">
              <a:solidFill>
                <a:srgbClr val="9FC3D9"/>
              </a:solidFill>
            </a:endParaRPr>
          </a:p>
        </p:txBody>
      </p:sp>
      <p:pic>
        <p:nvPicPr>
          <p:cNvPr id="61" name="Google Shape;61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84788" y="0"/>
            <a:ext cx="385762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4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0B8F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14"/>
          <p:cNvSpPr txBox="1"/>
          <p:nvPr/>
        </p:nvSpPr>
        <p:spPr>
          <a:xfrm>
            <a:off x="609600" y="38100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62B49"/>
                </a:solidFill>
              </a:rPr>
              <a:t>Problemas que resuelve</a:t>
            </a:r>
            <a:endParaRPr b="1" sz="2800">
              <a:solidFill>
                <a:srgbClr val="062B49"/>
              </a:solidFill>
            </a:endParaRPr>
          </a:p>
        </p:txBody>
      </p:sp>
      <p:sp>
        <p:nvSpPr>
          <p:cNvPr id="68" name="Google Shape;68;p14"/>
          <p:cNvSpPr txBox="1"/>
          <p:nvPr/>
        </p:nvSpPr>
        <p:spPr>
          <a:xfrm>
            <a:off x="635000" y="1219200"/>
            <a:ext cx="37464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01  Temperatura elevada</a:t>
            </a:r>
            <a:endParaRPr sz="15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02  Humedad fuera de rango</a:t>
            </a:r>
            <a:endParaRPr sz="15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03  Gas o humo sin alerta temprana</a:t>
            </a:r>
            <a:endParaRPr sz="15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04  Luces encendidas sin necesidad</a:t>
            </a:r>
            <a:endParaRPr sz="15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05  Espacios oscuros al iniciar</a:t>
            </a:r>
            <a:endParaRPr sz="1500">
              <a:solidFill>
                <a:srgbClr val="173A53"/>
              </a:solidFill>
            </a:endParaRPr>
          </a:p>
        </p:txBody>
      </p:sp>
      <p:sp>
        <p:nvSpPr>
          <p:cNvPr id="69" name="Google Shape;69;p14"/>
          <p:cNvSpPr txBox="1"/>
          <p:nvPr/>
        </p:nvSpPr>
        <p:spPr>
          <a:xfrm>
            <a:off x="4508500" y="1219200"/>
            <a:ext cx="4000500" cy="266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06  Acceso poco práctico</a:t>
            </a:r>
            <a:endParaRPr sz="15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07  Sin vista central del aula</a:t>
            </a:r>
            <a:endParaRPr sz="15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08  Respuesta tardía a emergencias</a:t>
            </a:r>
            <a:endParaRPr sz="15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09  Sin historial para decidir mejoras</a:t>
            </a:r>
            <a:endParaRPr sz="15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500">
                <a:solidFill>
                  <a:srgbClr val="173A53"/>
                </a:solidFill>
              </a:rPr>
              <a:t>10  Controles solo presenciales</a:t>
            </a:r>
            <a:endParaRPr sz="1500">
              <a:solidFill>
                <a:srgbClr val="173A53"/>
              </a:solidFill>
            </a:endParaRPr>
          </a:p>
        </p:txBody>
      </p:sp>
      <p:sp>
        <p:nvSpPr>
          <p:cNvPr id="70" name="Google Shape;70;p14"/>
          <p:cNvSpPr/>
          <p:nvPr/>
        </p:nvSpPr>
        <p:spPr>
          <a:xfrm>
            <a:off x="609600" y="4191000"/>
            <a:ext cx="7924800" cy="546000"/>
          </a:xfrm>
          <a:prstGeom prst="rect">
            <a:avLst/>
          </a:prstGeom>
          <a:solidFill>
            <a:srgbClr val="E2F3E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14"/>
          <p:cNvSpPr txBox="1"/>
          <p:nvPr/>
        </p:nvSpPr>
        <p:spPr>
          <a:xfrm>
            <a:off x="838200" y="4330700"/>
            <a:ext cx="7493100" cy="2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075E59"/>
                </a:solidFill>
              </a:rPr>
              <a:t>La encuesta validará la prioridad: 20 personas como mínimo, una elección por participante.</a:t>
            </a:r>
            <a:endParaRPr b="1" sz="1200">
              <a:solidFill>
                <a:srgbClr val="075E5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5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15"/>
          <p:cNvSpPr txBox="1"/>
          <p:nvPr/>
        </p:nvSpPr>
        <p:spPr>
          <a:xfrm>
            <a:off x="609600" y="381000"/>
            <a:ext cx="76200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62B49"/>
                </a:solidFill>
              </a:rPr>
              <a:t>Mercado objetivo</a:t>
            </a:r>
            <a:endParaRPr b="1" sz="2800">
              <a:solidFill>
                <a:srgbClr val="062B49"/>
              </a:solidFill>
            </a:endParaRPr>
          </a:p>
        </p:txBody>
      </p:sp>
      <p:sp>
        <p:nvSpPr>
          <p:cNvPr id="78" name="Google Shape;78;p15"/>
          <p:cNvSpPr txBox="1"/>
          <p:nvPr/>
        </p:nvSpPr>
        <p:spPr>
          <a:xfrm>
            <a:off x="609600" y="1295400"/>
            <a:ext cx="31116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B8F87"/>
                </a:solidFill>
              </a:rPr>
              <a:t>USUARIOS</a:t>
            </a:r>
            <a:endParaRPr b="1" sz="1100">
              <a:solidFill>
                <a:srgbClr val="0B8F87"/>
              </a:solidFill>
            </a:endParaRPr>
          </a:p>
        </p:txBody>
      </p:sp>
      <p:sp>
        <p:nvSpPr>
          <p:cNvPr id="79" name="Google Shape;79;p15"/>
          <p:cNvSpPr txBox="1"/>
          <p:nvPr/>
        </p:nvSpPr>
        <p:spPr>
          <a:xfrm>
            <a:off x="609600" y="1651000"/>
            <a:ext cx="34926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73A53"/>
                </a:solidFill>
              </a:rPr>
              <a:t>Docentes y estudiantes</a:t>
            </a:r>
            <a:endParaRPr sz="17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73A53"/>
                </a:solidFill>
              </a:rPr>
              <a:t>Encargados de laboratorio</a:t>
            </a:r>
            <a:endParaRPr sz="17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73A53"/>
                </a:solidFill>
              </a:rPr>
              <a:t>Personal de mantenimiento</a:t>
            </a:r>
            <a:endParaRPr sz="1700">
              <a:solidFill>
                <a:srgbClr val="173A53"/>
              </a:solidFill>
            </a:endParaRPr>
          </a:p>
        </p:txBody>
      </p:sp>
      <p:sp>
        <p:nvSpPr>
          <p:cNvPr id="80" name="Google Shape;80;p15"/>
          <p:cNvSpPr txBox="1"/>
          <p:nvPr/>
        </p:nvSpPr>
        <p:spPr>
          <a:xfrm>
            <a:off x="609600" y="3276600"/>
            <a:ext cx="3302100" cy="2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B8F87"/>
                </a:solidFill>
              </a:rPr>
              <a:t>CLIENTES POTENCIALES</a:t>
            </a:r>
            <a:endParaRPr b="1" sz="1100">
              <a:solidFill>
                <a:srgbClr val="0B8F87"/>
              </a:solidFill>
            </a:endParaRPr>
          </a:p>
        </p:txBody>
      </p:sp>
      <p:sp>
        <p:nvSpPr>
          <p:cNvPr id="81" name="Google Shape;81;p15"/>
          <p:cNvSpPr txBox="1"/>
          <p:nvPr/>
        </p:nvSpPr>
        <p:spPr>
          <a:xfrm>
            <a:off x="609600" y="3632200"/>
            <a:ext cx="3683100" cy="8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Colegios, institutos, universidades, academias y centros de capacitación.</a:t>
            </a:r>
            <a:endParaRPr sz="1600">
              <a:solidFill>
                <a:srgbClr val="173A53"/>
              </a:solidFill>
            </a:endParaRPr>
          </a:p>
        </p:txBody>
      </p:sp>
      <p:sp>
        <p:nvSpPr>
          <p:cNvPr id="82" name="Google Shape;82;p15"/>
          <p:cNvSpPr/>
          <p:nvPr/>
        </p:nvSpPr>
        <p:spPr>
          <a:xfrm>
            <a:off x="4762500" y="3835400"/>
            <a:ext cx="3708300" cy="838200"/>
          </a:xfrm>
          <a:prstGeom prst="rect">
            <a:avLst/>
          </a:prstGeom>
          <a:solidFill>
            <a:srgbClr val="062B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5"/>
          <p:cNvSpPr txBox="1"/>
          <p:nvPr/>
        </p:nvSpPr>
        <p:spPr>
          <a:xfrm>
            <a:off x="4991100" y="4038600"/>
            <a:ext cx="33021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300">
                <a:solidFill>
                  <a:srgbClr val="FFFFFF"/>
                </a:solidFill>
              </a:rPr>
              <a:t>Modelo inicial: kit por aula + instalación y mantenimiento</a:t>
            </a:r>
            <a:endParaRPr b="1" sz="1300">
              <a:solidFill>
                <a:srgbClr val="FFFFFF"/>
              </a:solidFill>
            </a:endParaRPr>
          </a:p>
        </p:txBody>
      </p:sp>
      <p:pic>
        <p:nvPicPr>
          <p:cNvPr id="84" name="Google Shape;84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62500" y="1601646"/>
            <a:ext cx="3708400" cy="1762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0" y="0"/>
            <a:ext cx="9144000" cy="126900"/>
          </a:xfrm>
          <a:prstGeom prst="rect">
            <a:avLst/>
          </a:prstGeom>
          <a:solidFill>
            <a:srgbClr val="0B8F87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6"/>
          <p:cNvSpPr txBox="1"/>
          <p:nvPr/>
        </p:nvSpPr>
        <p:spPr>
          <a:xfrm>
            <a:off x="609600" y="381000"/>
            <a:ext cx="7874100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2800">
                <a:solidFill>
                  <a:srgbClr val="062B49"/>
                </a:solidFill>
              </a:rPr>
              <a:t>Recursos y limitaciones</a:t>
            </a:r>
            <a:endParaRPr b="1" sz="2800">
              <a:solidFill>
                <a:srgbClr val="062B49"/>
              </a:solidFill>
            </a:endParaRPr>
          </a:p>
        </p:txBody>
      </p:sp>
      <p:sp>
        <p:nvSpPr>
          <p:cNvPr id="91" name="Google Shape;91;p16"/>
          <p:cNvSpPr txBox="1"/>
          <p:nvPr/>
        </p:nvSpPr>
        <p:spPr>
          <a:xfrm>
            <a:off x="609600" y="1219200"/>
            <a:ext cx="361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0B8F87"/>
                </a:solidFill>
              </a:rPr>
              <a:t>RECURSOS DISPONIBLES</a:t>
            </a:r>
            <a:endParaRPr b="1" sz="1100">
              <a:solidFill>
                <a:srgbClr val="0B8F87"/>
              </a:solidFill>
            </a:endParaRPr>
          </a:p>
        </p:txBody>
      </p:sp>
      <p:sp>
        <p:nvSpPr>
          <p:cNvPr id="92" name="Google Shape;92;p16"/>
          <p:cNvSpPr txBox="1"/>
          <p:nvPr/>
        </p:nvSpPr>
        <p:spPr>
          <a:xfrm>
            <a:off x="609600" y="1600200"/>
            <a:ext cx="37464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Raspberry Pi y Arduino</a:t>
            </a:r>
            <a:endParaRPr sz="16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Sensores y actuadores instalados</a:t>
            </a:r>
            <a:endParaRPr sz="16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Python, Flask, MQTT y MongoDB</a:t>
            </a:r>
            <a:endParaRPr sz="16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Dashboard y scripts de prueba</a:t>
            </a:r>
            <a:endParaRPr sz="16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Maqueta funcional para demostrar</a:t>
            </a:r>
            <a:endParaRPr sz="1600">
              <a:solidFill>
                <a:srgbClr val="173A53"/>
              </a:solidFill>
            </a:endParaRPr>
          </a:p>
        </p:txBody>
      </p:sp>
      <p:sp>
        <p:nvSpPr>
          <p:cNvPr id="93" name="Google Shape;93;p16"/>
          <p:cNvSpPr txBox="1"/>
          <p:nvPr/>
        </p:nvSpPr>
        <p:spPr>
          <a:xfrm>
            <a:off x="4762500" y="1219200"/>
            <a:ext cx="36195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100">
                <a:solidFill>
                  <a:srgbClr val="D97706"/>
                </a:solidFill>
              </a:rPr>
              <a:t>LIMITACIONES</a:t>
            </a:r>
            <a:endParaRPr b="1" sz="1100">
              <a:solidFill>
                <a:srgbClr val="D97706"/>
              </a:solidFill>
            </a:endParaRPr>
          </a:p>
        </p:txBody>
      </p:sp>
      <p:sp>
        <p:nvSpPr>
          <p:cNvPr id="94" name="Google Shape;94;p16"/>
          <p:cNvSpPr txBox="1"/>
          <p:nvPr/>
        </p:nvSpPr>
        <p:spPr>
          <a:xfrm>
            <a:off x="4762500" y="1600200"/>
            <a:ext cx="3746400" cy="20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Sensores de bajo costo</a:t>
            </a:r>
            <a:endParaRPr sz="16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Dependencia de energía y red</a:t>
            </a:r>
            <a:endParaRPr sz="16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Calibración antes de instalar</a:t>
            </a:r>
            <a:endParaRPr sz="16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Protecciones para uso real</a:t>
            </a:r>
            <a:endParaRPr sz="16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600">
                <a:solidFill>
                  <a:srgbClr val="173A53"/>
                </a:solidFill>
              </a:rPr>
              <a:t>Costo variable según el aula</a:t>
            </a:r>
            <a:endParaRPr sz="1600">
              <a:solidFill>
                <a:srgbClr val="173A53"/>
              </a:solidFill>
            </a:endParaRPr>
          </a:p>
        </p:txBody>
      </p:sp>
      <p:sp>
        <p:nvSpPr>
          <p:cNvPr id="95" name="Google Shape;95;p16"/>
          <p:cNvSpPr/>
          <p:nvPr/>
        </p:nvSpPr>
        <p:spPr>
          <a:xfrm>
            <a:off x="609600" y="4089400"/>
            <a:ext cx="7924800" cy="647700"/>
          </a:xfrm>
          <a:prstGeom prst="rect">
            <a:avLst/>
          </a:prstGeom>
          <a:solidFill>
            <a:srgbClr val="FFF1D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16"/>
          <p:cNvSpPr txBox="1"/>
          <p:nvPr/>
        </p:nvSpPr>
        <p:spPr>
          <a:xfrm>
            <a:off x="838200" y="4279900"/>
            <a:ext cx="7493100" cy="31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1200">
                <a:solidFill>
                  <a:srgbClr val="7A4B00"/>
                </a:solidFill>
              </a:rPr>
              <a:t>Factible como prototipo. La validación financiera requiere cotizaciones y entrevistas reales.</a:t>
            </a:r>
            <a:endParaRPr b="1" sz="1200">
              <a:solidFill>
                <a:srgbClr val="7A4B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7FAFC"/>
        </a:soli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7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62B4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7"/>
          <p:cNvSpPr/>
          <p:nvPr/>
        </p:nvSpPr>
        <p:spPr>
          <a:xfrm>
            <a:off x="4660900" y="0"/>
            <a:ext cx="4483200" cy="5143500"/>
          </a:xfrm>
          <a:prstGeom prst="rect">
            <a:avLst/>
          </a:prstGeom>
          <a:solidFill>
            <a:srgbClr val="F7FAF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7"/>
          <p:cNvSpPr txBox="1"/>
          <p:nvPr/>
        </p:nvSpPr>
        <p:spPr>
          <a:xfrm>
            <a:off x="5041900" y="762000"/>
            <a:ext cx="3492600" cy="66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100">
                <a:solidFill>
                  <a:srgbClr val="062B49"/>
                </a:solidFill>
              </a:rPr>
              <a:t>AulaNexo</a:t>
            </a:r>
            <a:endParaRPr b="1" sz="3100">
              <a:solidFill>
                <a:srgbClr val="062B49"/>
              </a:solidFill>
            </a:endParaRPr>
          </a:p>
        </p:txBody>
      </p:sp>
      <p:sp>
        <p:nvSpPr>
          <p:cNvPr id="104" name="Google Shape;104;p17"/>
          <p:cNvSpPr txBox="1"/>
          <p:nvPr/>
        </p:nvSpPr>
        <p:spPr>
          <a:xfrm>
            <a:off x="5041900" y="1473200"/>
            <a:ext cx="3429000" cy="33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B8F87"/>
                </a:solidFill>
              </a:rPr>
              <a:t>Nombre y logo del producto</a:t>
            </a:r>
            <a:endParaRPr b="1">
              <a:solidFill>
                <a:srgbClr val="0B8F87"/>
              </a:solidFill>
            </a:endParaRPr>
          </a:p>
        </p:txBody>
      </p:sp>
      <p:sp>
        <p:nvSpPr>
          <p:cNvPr id="105" name="Google Shape;105;p17"/>
          <p:cNvSpPr txBox="1"/>
          <p:nvPr/>
        </p:nvSpPr>
        <p:spPr>
          <a:xfrm>
            <a:off x="5041900" y="2247900"/>
            <a:ext cx="34290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73A53"/>
                </a:solidFill>
              </a:rPr>
              <a:t>Puerta: acceso</a:t>
            </a:r>
            <a:endParaRPr sz="17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73A53"/>
                </a:solidFill>
              </a:rPr>
              <a:t>Hoja: confort y eficiencia</a:t>
            </a:r>
            <a:endParaRPr sz="1700">
              <a:solidFill>
                <a:srgbClr val="173A53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700">
                <a:solidFill>
                  <a:srgbClr val="173A53"/>
                </a:solidFill>
              </a:rPr>
              <a:t>Señal: monitoreo conectado</a:t>
            </a:r>
            <a:endParaRPr sz="1700">
              <a:solidFill>
                <a:srgbClr val="173A53"/>
              </a:solidFill>
            </a:endParaRPr>
          </a:p>
        </p:txBody>
      </p:sp>
      <p:sp>
        <p:nvSpPr>
          <p:cNvPr id="106" name="Google Shape;106;p17"/>
          <p:cNvSpPr txBox="1"/>
          <p:nvPr/>
        </p:nvSpPr>
        <p:spPr>
          <a:xfrm>
            <a:off x="5041900" y="3937000"/>
            <a:ext cx="3429000" cy="73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62B49"/>
                </a:solidFill>
              </a:rPr>
              <a:t>Promesa</a:t>
            </a:r>
            <a:endParaRPr b="1">
              <a:solidFill>
                <a:srgbClr val="062B49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>
                <a:solidFill>
                  <a:srgbClr val="062B49"/>
                </a:solidFill>
              </a:rPr>
              <a:t>Un aula que detecta, responde y deja evidencia.</a:t>
            </a:r>
            <a:endParaRPr b="1">
              <a:solidFill>
                <a:srgbClr val="062B49"/>
              </a:solidFill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317500" y="508000"/>
            <a:ext cx="4000500" cy="4000500"/>
          </a:xfrm>
          <a:prstGeom prst="rect">
            <a:avLst/>
          </a:prstGeom>
          <a:solidFill>
            <a:srgbClr val="EAF7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8000" y="698500"/>
            <a:ext cx="3619499" cy="3619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